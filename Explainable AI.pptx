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Average"/>
      <p:regular r:id="rId10"/>
    </p:embeddedFont>
    <p:embeddedFont>
      <p:font typeface="Oswald"/>
      <p:regular r:id="rId11"/>
      <p:bold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font" Target="fonts/Oswald-regular.fntdata"/><Relationship Id="rId10" Type="http://schemas.openxmlformats.org/officeDocument/2006/relationships/font" Target="fonts/Average-regular.fntdata"/><Relationship Id="rId12" Type="http://schemas.openxmlformats.org/officeDocument/2006/relationships/font" Target="fonts/Oswald-bold.fntdata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c6f980f91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c6f980f9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c6f980f91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c6f980f9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c6f980f91_0_2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c6f980f91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c6f980f91_0_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c6f980f9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EXPLAINABLE AI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Explainable AI</a:t>
            </a:r>
            <a:endParaRPr/>
          </a:p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Explainable AI is an emerging field in machine learning that aims to address how black box decisions of AI are made. This area inspects and tries to understand the steps &amp; models </a:t>
            </a:r>
            <a:r>
              <a:rPr lang="en">
                <a:solidFill>
                  <a:srgbClr val="FFFFFF"/>
                </a:solidFill>
              </a:rPr>
              <a:t>involved</a:t>
            </a:r>
            <a:r>
              <a:rPr lang="en">
                <a:solidFill>
                  <a:srgbClr val="FFFFFF"/>
                </a:solidFill>
              </a:rPr>
              <a:t> in making decisions. It answers questions like - </a:t>
            </a:r>
            <a:endParaRPr>
              <a:solidFill>
                <a:srgbClr val="FFFFFF"/>
              </a:solidFill>
            </a:endParaRPr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800"/>
              <a:buChar char="-"/>
            </a:pPr>
            <a:r>
              <a:rPr lang="en">
                <a:solidFill>
                  <a:srgbClr val="FFFFFF"/>
                </a:solidFill>
              </a:rPr>
              <a:t>Why did the AI system make a specific prediction or decision?</a:t>
            </a:r>
            <a:endParaRPr>
              <a:solidFill>
                <a:srgbClr val="FFFF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-"/>
            </a:pPr>
            <a:r>
              <a:rPr lang="en">
                <a:solidFill>
                  <a:srgbClr val="FFFFFF"/>
                </a:solidFill>
              </a:rPr>
              <a:t>Why didn’t the AI system do something else?</a:t>
            </a:r>
            <a:endParaRPr>
              <a:solidFill>
                <a:srgbClr val="FFFF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-"/>
            </a:pPr>
            <a:r>
              <a:rPr lang="en">
                <a:solidFill>
                  <a:srgbClr val="FFFFFF"/>
                </a:solidFill>
              </a:rPr>
              <a:t>When do AI system give enough confidence in the decision that one can trust it, how can the AI system correct errors that arise?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FFFFFF"/>
                </a:solidFill>
              </a:rPr>
              <a:t>To promote explainable AI, researchers have been developing tools and techniques such as What-if Tool, LIME, TreeInterpreter and many more.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/>
        </p:nvSpPr>
        <p:spPr>
          <a:xfrm>
            <a:off x="145000" y="169550"/>
            <a:ext cx="8483400" cy="46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Average"/>
                <a:ea typeface="Average"/>
                <a:cs typeface="Average"/>
                <a:sym typeface="Average"/>
              </a:rPr>
              <a:t>Why do we need to explain?</a:t>
            </a:r>
            <a:endParaRPr b="1" sz="2000">
              <a:latin typeface="Average"/>
              <a:ea typeface="Average"/>
              <a:cs typeface="Average"/>
              <a:sym typeface="Averag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Average"/>
              <a:buChar char="●"/>
            </a:pPr>
            <a:r>
              <a:rPr lang="en" sz="1600">
                <a:latin typeface="Average"/>
                <a:ea typeface="Average"/>
                <a:cs typeface="Average"/>
                <a:sym typeface="Average"/>
              </a:rPr>
              <a:t>An </a:t>
            </a:r>
            <a:r>
              <a:rPr lang="en" sz="1600">
                <a:latin typeface="Average"/>
                <a:ea typeface="Average"/>
                <a:cs typeface="Average"/>
                <a:sym typeface="Average"/>
              </a:rPr>
              <a:t>explanation</a:t>
            </a:r>
            <a:r>
              <a:rPr lang="en" sz="1600">
                <a:latin typeface="Average"/>
                <a:ea typeface="Average"/>
                <a:cs typeface="Average"/>
                <a:sym typeface="Average"/>
              </a:rPr>
              <a:t>  provide a justification for a decision that increases the trust in the decision for an analyst.</a:t>
            </a:r>
            <a:endParaRPr sz="1600">
              <a:latin typeface="Average"/>
              <a:ea typeface="Average"/>
              <a:cs typeface="Average"/>
              <a:sym typeface="Average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Average"/>
              <a:buChar char="●"/>
            </a:pPr>
            <a:r>
              <a:rPr lang="en" sz="1600">
                <a:latin typeface="Average"/>
                <a:ea typeface="Average"/>
                <a:cs typeface="Average"/>
                <a:sym typeface="Average"/>
              </a:rPr>
              <a:t>Why was ‘A’ chosen in place of ‘B’? Why this recommendation and not that? What features changes my </a:t>
            </a:r>
            <a:r>
              <a:rPr lang="en" sz="1600">
                <a:latin typeface="Average"/>
                <a:ea typeface="Average"/>
                <a:cs typeface="Average"/>
                <a:sym typeface="Average"/>
              </a:rPr>
              <a:t>classification</a:t>
            </a:r>
            <a:r>
              <a:rPr lang="en" sz="1600">
                <a:latin typeface="Average"/>
                <a:ea typeface="Average"/>
                <a:cs typeface="Average"/>
                <a:sym typeface="Average"/>
              </a:rPr>
              <a:t> from good to bad?</a:t>
            </a:r>
            <a:endParaRPr sz="1600">
              <a:latin typeface="Average"/>
              <a:ea typeface="Average"/>
              <a:cs typeface="Average"/>
              <a:sym typeface="Average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Average"/>
              <a:buChar char="●"/>
            </a:pPr>
            <a:r>
              <a:rPr lang="en" sz="1600">
                <a:latin typeface="Average"/>
                <a:ea typeface="Average"/>
                <a:cs typeface="Average"/>
                <a:sym typeface="Average"/>
              </a:rPr>
              <a:t>An explanation is tailored within respect of the domain, incorporating the relevant terms of the domain.</a:t>
            </a:r>
            <a:endParaRPr sz="1600">
              <a:latin typeface="Average"/>
              <a:ea typeface="Average"/>
              <a:cs typeface="Average"/>
              <a:sym typeface="Average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Average"/>
              <a:buChar char="●"/>
            </a:pPr>
            <a:r>
              <a:rPr lang="en" sz="1600">
                <a:latin typeface="Average"/>
                <a:ea typeface="Average"/>
                <a:cs typeface="Average"/>
                <a:sym typeface="Average"/>
              </a:rPr>
              <a:t>It is a more attractive approach for a consumer to understand the complexity of model and reasons to its predictions/ decisions.</a:t>
            </a:r>
            <a:endParaRPr sz="1600"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Average"/>
                <a:ea typeface="Average"/>
                <a:cs typeface="Average"/>
                <a:sym typeface="Average"/>
              </a:rPr>
              <a:t>Explanation should be:</a:t>
            </a:r>
            <a:endParaRPr b="1" sz="2000">
              <a:latin typeface="Average"/>
              <a:ea typeface="Average"/>
              <a:cs typeface="Average"/>
              <a:sym typeface="Average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Average"/>
              <a:buChar char="●"/>
            </a:pPr>
            <a:r>
              <a:rPr lang="en" sz="1600">
                <a:latin typeface="Average"/>
                <a:ea typeface="Average"/>
                <a:cs typeface="Average"/>
                <a:sym typeface="Average"/>
              </a:rPr>
              <a:t>Explanation</a:t>
            </a:r>
            <a:r>
              <a:rPr lang="en" sz="1600">
                <a:latin typeface="Average"/>
                <a:ea typeface="Average"/>
                <a:cs typeface="Average"/>
                <a:sym typeface="Average"/>
              </a:rPr>
              <a:t> should be easily interpretable by the user.</a:t>
            </a:r>
            <a:endParaRPr sz="1600">
              <a:latin typeface="Average"/>
              <a:ea typeface="Average"/>
              <a:cs typeface="Average"/>
              <a:sym typeface="Average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Average"/>
              <a:buChar char="●"/>
            </a:pPr>
            <a:r>
              <a:rPr lang="en" sz="1600">
                <a:latin typeface="Average"/>
                <a:ea typeface="Average"/>
                <a:cs typeface="Average"/>
                <a:sym typeface="Average"/>
              </a:rPr>
              <a:t>Explanation needs to describe how that model actually behaves and why?</a:t>
            </a:r>
            <a:endParaRPr sz="1600"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625" y="2200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TreeInterpreter:</a:t>
            </a:r>
            <a:endParaRPr/>
          </a:p>
        </p:txBody>
      </p:sp>
      <p:sp>
        <p:nvSpPr>
          <p:cNvPr id="76" name="Google Shape;76;p16"/>
          <p:cNvSpPr txBox="1"/>
          <p:nvPr/>
        </p:nvSpPr>
        <p:spPr>
          <a:xfrm>
            <a:off x="311625" y="900125"/>
            <a:ext cx="8520600" cy="37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FF"/>
                </a:solidFill>
                <a:latin typeface="Average"/>
                <a:ea typeface="Average"/>
                <a:cs typeface="Average"/>
                <a:sym typeface="Average"/>
              </a:rPr>
              <a:t>TreeInterpreter is a package for interpreting scikit-learn’s decision tree and random forest predictions. It allows decomposing each prediction into bias and feature contribution components.</a:t>
            </a:r>
            <a:endParaRPr sz="1500">
              <a:solidFill>
                <a:srgbClr val="FFFFFF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FF"/>
                </a:solidFill>
                <a:latin typeface="Average"/>
                <a:ea typeface="Average"/>
                <a:cs typeface="Average"/>
                <a:sym typeface="Average"/>
              </a:rPr>
              <a:t>It works on scikit-learn’s </a:t>
            </a:r>
            <a:endParaRPr sz="1500">
              <a:solidFill>
                <a:srgbClr val="FFFFFF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verage"/>
              <a:buChar char="-"/>
            </a:pPr>
            <a:r>
              <a:rPr lang="en" sz="1500">
                <a:solidFill>
                  <a:srgbClr val="FFFFFF"/>
                </a:solidFill>
                <a:latin typeface="Average"/>
                <a:ea typeface="Average"/>
                <a:cs typeface="Average"/>
                <a:sym typeface="Average"/>
              </a:rPr>
              <a:t>Decision Tree Regressor</a:t>
            </a:r>
            <a:endParaRPr sz="1500">
              <a:solidFill>
                <a:srgbClr val="FFFFFF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verage"/>
              <a:buChar char="-"/>
            </a:pPr>
            <a:r>
              <a:rPr lang="en" sz="1500">
                <a:solidFill>
                  <a:srgbClr val="FFFFFF"/>
                </a:solidFill>
                <a:latin typeface="Average"/>
                <a:ea typeface="Average"/>
                <a:cs typeface="Average"/>
                <a:sym typeface="Average"/>
              </a:rPr>
              <a:t>Decision Tree Classifier</a:t>
            </a:r>
            <a:endParaRPr sz="1500">
              <a:solidFill>
                <a:srgbClr val="FFFFFF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verage"/>
              <a:buChar char="-"/>
            </a:pPr>
            <a:r>
              <a:rPr lang="en" sz="1500">
                <a:solidFill>
                  <a:srgbClr val="FFFFFF"/>
                </a:solidFill>
                <a:latin typeface="Average"/>
                <a:ea typeface="Average"/>
                <a:cs typeface="Average"/>
                <a:sym typeface="Average"/>
              </a:rPr>
              <a:t>Random Forest Regressor</a:t>
            </a:r>
            <a:endParaRPr sz="1500">
              <a:solidFill>
                <a:srgbClr val="FFFFFF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verage"/>
              <a:buChar char="-"/>
            </a:pPr>
            <a:r>
              <a:rPr lang="en" sz="1500">
                <a:solidFill>
                  <a:srgbClr val="FFFFFF"/>
                </a:solidFill>
                <a:latin typeface="Average"/>
                <a:ea typeface="Average"/>
                <a:cs typeface="Average"/>
                <a:sym typeface="Average"/>
              </a:rPr>
              <a:t>Random Forest Classifier</a:t>
            </a:r>
            <a:endParaRPr sz="1500">
              <a:solidFill>
                <a:srgbClr val="FFFFFF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FFFFFF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FF"/>
                </a:solidFill>
                <a:latin typeface="Average"/>
                <a:ea typeface="Average"/>
                <a:cs typeface="Average"/>
                <a:sym typeface="Average"/>
              </a:rPr>
              <a:t>When considering a decision tree, it is </a:t>
            </a:r>
            <a:r>
              <a:rPr lang="en" sz="1500">
                <a:solidFill>
                  <a:srgbClr val="FFFFFF"/>
                </a:solidFill>
                <a:latin typeface="Average"/>
                <a:ea typeface="Average"/>
                <a:cs typeface="Average"/>
                <a:sym typeface="Average"/>
              </a:rPr>
              <a:t>intuitively</a:t>
            </a:r>
            <a:r>
              <a:rPr lang="en" sz="1500">
                <a:solidFill>
                  <a:srgbClr val="FFFFFF"/>
                </a:solidFill>
                <a:latin typeface="Average"/>
                <a:ea typeface="Average"/>
                <a:cs typeface="Average"/>
                <a:sym typeface="Average"/>
              </a:rPr>
              <a:t> clear that for each decision that a tree makes there is a path from the root of the tree to the leaf, consisting of a series of </a:t>
            </a:r>
            <a:r>
              <a:rPr lang="en" sz="1500">
                <a:solidFill>
                  <a:srgbClr val="FFFFFF"/>
                </a:solidFill>
                <a:latin typeface="Average"/>
                <a:ea typeface="Average"/>
                <a:cs typeface="Average"/>
                <a:sym typeface="Average"/>
              </a:rPr>
              <a:t>decisions</a:t>
            </a:r>
            <a:r>
              <a:rPr lang="en" sz="1500">
                <a:solidFill>
                  <a:srgbClr val="FFFFFF"/>
                </a:solidFill>
                <a:latin typeface="Average"/>
                <a:ea typeface="Average"/>
                <a:cs typeface="Average"/>
                <a:sym typeface="Average"/>
              </a:rPr>
              <a:t> guarded by a particular feature, each of which contribute to the final predictions. Every prediction made can </a:t>
            </a:r>
            <a:r>
              <a:rPr lang="en" sz="1500">
                <a:solidFill>
                  <a:srgbClr val="FFFFFF"/>
                </a:solidFill>
                <a:latin typeface="Average"/>
                <a:ea typeface="Average"/>
                <a:cs typeface="Average"/>
                <a:sym typeface="Average"/>
              </a:rPr>
              <a:t>be</a:t>
            </a:r>
            <a:r>
              <a:rPr lang="en" sz="1500">
                <a:solidFill>
                  <a:srgbClr val="FFFFFF"/>
                </a:solidFill>
                <a:latin typeface="Average"/>
                <a:ea typeface="Average"/>
                <a:cs typeface="Average"/>
                <a:sym typeface="Average"/>
              </a:rPr>
              <a:t> trivially presented as a sum of features </a:t>
            </a:r>
            <a:r>
              <a:rPr lang="en" sz="1500">
                <a:solidFill>
                  <a:srgbClr val="FFFFFF"/>
                </a:solidFill>
                <a:latin typeface="Average"/>
                <a:ea typeface="Average"/>
                <a:cs typeface="Average"/>
                <a:sym typeface="Average"/>
              </a:rPr>
              <a:t>contributions</a:t>
            </a:r>
            <a:r>
              <a:rPr lang="en" sz="1500">
                <a:solidFill>
                  <a:srgbClr val="FFFFFF"/>
                </a:solidFill>
                <a:latin typeface="Average"/>
                <a:ea typeface="Average"/>
                <a:cs typeface="Average"/>
                <a:sym typeface="Average"/>
              </a:rPr>
              <a:t>, showing how the features lead to a particular prediction. This open up a lot of </a:t>
            </a:r>
            <a:r>
              <a:rPr lang="en" sz="1500">
                <a:solidFill>
                  <a:srgbClr val="FFFFFF"/>
                </a:solidFill>
                <a:latin typeface="Average"/>
                <a:ea typeface="Average"/>
                <a:cs typeface="Average"/>
                <a:sym typeface="Average"/>
              </a:rPr>
              <a:t>opportunities</a:t>
            </a:r>
            <a:r>
              <a:rPr lang="en" sz="1500">
                <a:solidFill>
                  <a:srgbClr val="FFFFFF"/>
                </a:solidFill>
                <a:latin typeface="Average"/>
                <a:ea typeface="Average"/>
                <a:cs typeface="Average"/>
                <a:sym typeface="Average"/>
              </a:rPr>
              <a:t> on </a:t>
            </a:r>
            <a:r>
              <a:rPr lang="en" sz="1500">
                <a:solidFill>
                  <a:srgbClr val="FFFFFF"/>
                </a:solidFill>
                <a:latin typeface="Average"/>
                <a:ea typeface="Average"/>
                <a:cs typeface="Average"/>
                <a:sym typeface="Average"/>
              </a:rPr>
              <a:t>practical</a:t>
            </a:r>
            <a:r>
              <a:rPr lang="en" sz="1500">
                <a:solidFill>
                  <a:srgbClr val="FFFFFF"/>
                </a:solidFill>
                <a:latin typeface="Average"/>
                <a:ea typeface="Average"/>
                <a:cs typeface="Average"/>
                <a:sym typeface="Average"/>
              </a:rPr>
              <a:t> ML and data science tasks:</a:t>
            </a:r>
            <a:endParaRPr sz="1500">
              <a:solidFill>
                <a:srgbClr val="FFFFFF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FF"/>
                </a:solidFill>
                <a:latin typeface="Average"/>
                <a:ea typeface="Average"/>
                <a:cs typeface="Average"/>
                <a:sym typeface="Average"/>
              </a:rPr>
              <a:t>-Explain to an analyst why a </a:t>
            </a:r>
            <a:r>
              <a:rPr lang="en" sz="1500">
                <a:solidFill>
                  <a:srgbClr val="FFFFFF"/>
                </a:solidFill>
                <a:latin typeface="Average"/>
                <a:ea typeface="Average"/>
                <a:cs typeface="Average"/>
                <a:sym typeface="Average"/>
              </a:rPr>
              <a:t>particular</a:t>
            </a:r>
            <a:r>
              <a:rPr lang="en" sz="1500">
                <a:solidFill>
                  <a:srgbClr val="FFFFFF"/>
                </a:solidFill>
                <a:latin typeface="Average"/>
                <a:ea typeface="Average"/>
                <a:cs typeface="Average"/>
                <a:sym typeface="Average"/>
              </a:rPr>
              <a:t> prediction is made</a:t>
            </a:r>
            <a:endParaRPr sz="1500">
              <a:solidFill>
                <a:srgbClr val="FFFFFF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FF"/>
                </a:solidFill>
                <a:latin typeface="Average"/>
                <a:ea typeface="Average"/>
                <a:cs typeface="Average"/>
                <a:sym typeface="Average"/>
              </a:rPr>
              <a:t>-Debug models when results are unexpected</a:t>
            </a:r>
            <a:endParaRPr sz="1500">
              <a:solidFill>
                <a:srgbClr val="FFFFFF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FF"/>
                </a:solidFill>
                <a:latin typeface="Average"/>
                <a:ea typeface="Average"/>
                <a:cs typeface="Average"/>
                <a:sym typeface="Average"/>
              </a:rPr>
              <a:t>-Explain the difference of two datasets, by comparing their average predictions &amp; corresponding average feature </a:t>
            </a:r>
            <a:r>
              <a:rPr lang="en" sz="1500">
                <a:solidFill>
                  <a:srgbClr val="FFFFFF"/>
                </a:solidFill>
                <a:latin typeface="Average"/>
                <a:ea typeface="Average"/>
                <a:cs typeface="Average"/>
                <a:sym typeface="Average"/>
              </a:rPr>
              <a:t>contributions</a:t>
            </a:r>
            <a:r>
              <a:rPr lang="en" sz="1500">
                <a:solidFill>
                  <a:srgbClr val="FFFFFF"/>
                </a:solidFill>
                <a:latin typeface="Average"/>
                <a:ea typeface="Average"/>
                <a:cs typeface="Average"/>
                <a:sym typeface="Average"/>
              </a:rPr>
              <a:t>.</a:t>
            </a:r>
            <a:endParaRPr sz="1500">
              <a:solidFill>
                <a:srgbClr val="FFFFFF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